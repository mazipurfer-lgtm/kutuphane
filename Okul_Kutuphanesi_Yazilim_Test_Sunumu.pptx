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YAZILIM TEST VE KALİTE GÜVENCESİ DÖNEM PROJESİ</a:t>
            </a:r>
          </a:p>
          <a:p>
            <a:pPr>
              <a:spcBef>
                <a:spcPts val="1200"/>
              </a:spcBef>
              <a:defRPr sz="4000" b="1">
                <a:solidFill>
                  <a:srgbClr val="FFFFFF"/>
                </a:solidFill>
              </a:defRPr>
            </a:pPr>
            <a:r>
              <a:t>Okul Kütüphanesi</a:t>
            </a:r>
            <a:br/>
            <a:r>
              <a:t>Kitap Kiralama Sistemi</a:t>
            </a:r>
          </a:p>
          <a:p>
            <a:pPr>
              <a:spcBef>
                <a:spcPts val="1400"/>
              </a:spcBef>
              <a:defRPr sz="1800">
                <a:solidFill>
                  <a:srgbClr val="CBD5E1"/>
                </a:solidFill>
              </a:defRPr>
            </a:pPr>
            <a:r>
              <a:t>İTÜ BİDB Yazılım Testi ve Test Süreçleri Metodolojisi Kapsamında Dinamik Test Uygulamaları</a:t>
            </a:r>
          </a:p>
          <a:p>
            <a:pPr>
              <a:spcBef>
                <a:spcPts val="2800"/>
              </a:spcBef>
              <a:defRPr sz="1400">
                <a:solidFill>
                  <a:srgbClr val="94A3B8"/>
                </a:solidFill>
              </a:defRPr>
            </a:pPr>
            <a:r>
              <a:t>Hazırlayan: mazipurfer-lgtm  |  Yazılım Testi &amp; Doğrulama Dersi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İTÜ BİDB REFERANSLI YAZILIM TEST SÜREÇLERİ</a:t>
            </a:r>
          </a:p>
          <a:p>
            <a:pPr>
              <a:defRPr sz="2600" b="1">
                <a:solidFill>
                  <a:srgbClr val="1F3D63"/>
                </a:solidFill>
              </a:defRPr>
            </a:pPr>
            <a:r>
              <a:t>Yazılım Kalitesi ve Testin Yapılma Nedenleri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F3D63"/>
                </a:solidFill>
              </a:defRPr>
            </a:pPr>
            <a:r>
              <a:t>Kaliteli Yazılımın Kriterleri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Kabul edilebilir düzeyde hatasız olması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Planlanan bütçe ve zamanda bitirilip dağıtılabilmesi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Gereksinimleri ve son kullanıcı beklentilerini karşılaması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Sürdürülebilir ve esnek mimari özelliklere sahip olması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Objektif ve ölçülebilir kalite metriklerine dayanması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F3D63"/>
                </a:solidFill>
              </a:defRPr>
            </a:pPr>
            <a:r>
              <a:t>Yazılım Testinin Temel Amaçları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Ürün Kalitesinden Emin Olmak: Canlıya çıkmadan güven sağlamak.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Maliyetleri Azaltmak: Geç bulunan hataların düzeltme masrafı katlanarak artar.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Hataların Yayılmasını Önlemek: Erken tespitle diğer modüllere bulaşmasını engellemek.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Müşteri Memnuniyeti: Beklentilerin tam karşılanması ve güven tesisi.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İtibar ve Tazminat Riskinin Önlenmesi: Olası hizmet kesintilerinin önüne geçmek.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İTÜ BİDB REFERANSLI YAZILIM TEST SÜREÇLERİ</a:t>
            </a:r>
          </a:p>
          <a:p>
            <a:pPr>
              <a:defRPr sz="2600" b="1">
                <a:solidFill>
                  <a:srgbClr val="1F3D63"/>
                </a:solidFill>
              </a:defRPr>
            </a:pPr>
            <a:r>
              <a:t>İdeal Yazılım Test Süreci Yaşam Döngüsü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F3D63"/>
                </a:solidFill>
              </a:defRPr>
            </a:pPr>
            <a:r>
              <a:t>1. Test Hazırlık Süreci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Gereksinim ve tasarım dokümanlarının analizi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Test edilecek ve edilmeyecek kapsamın çizilmesi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Risk analizinin gerçekleştirilmesi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Test ortamlarının ve araçlarının hazırlanması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Test Case senaryolarının belirlenmesi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Test sonlandırma (çıkış) kriterlerinin saptanması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92024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F3D63"/>
                </a:solidFill>
              </a:defRPr>
            </a:pPr>
            <a:r>
              <a:t>2. Dinamik Test Süreci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Birim Testleri (Unit Testing) ile fonksiyon kontrolü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Tümleyim Testleri (Integration) ile modül uyumu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Regresyon Testleri (Regression) ile bozulma teyidi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Performans ve Zorlanım Testi ile yük dayanıklılığı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Kullanıcı Kabul Testi (UAT) ile iş akışı onayı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Beyaz Kutu &amp; Kara Kutu tekniklerinin icrası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92024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F3D63"/>
                </a:solidFill>
              </a:defRPr>
            </a:pPr>
            <a:r>
              <a:t>3. Testin Sonlandırılması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Bulunan tüm hataların çözümlenmesi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Test sonlandırma kriterlerinin denetlenmesi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Kullanıcı kabul onayı (UAT onayı) alınması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Nihai test raporunun düzenlenmesi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Ürün (canlı kullanım) aşamasına geçiş kararı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İTÜ BİDB REFERANSLI YAZILIM TEST SÜREÇLERİ</a:t>
            </a:r>
          </a:p>
          <a:p>
            <a:pPr>
              <a:defRPr sz="2600" b="1">
                <a:solidFill>
                  <a:srgbClr val="1F3D63"/>
                </a:solidFill>
              </a:defRPr>
            </a:pPr>
            <a:r>
              <a:t>Test Hazırlık Aşaması ve Risk Analizi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1498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F3D63"/>
                </a:solidFill>
              </a:defRPr>
            </a:pPr>
            <a:r>
              <a:t>Kütüphane Sistemi Risk ve Kapsam Değerlendirmesi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Risk 1 (Yüksek Kritik): Stok Aşımı - Kitap stoğu 0 olduğunda kiralama yapılabilmesi riski. (Önlem: musaitAdetHesapla ve Sınır Değer Analizi)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Risk 2 (Yüksek Kritik): Ceza Formülü Hatası - Gecikme süresinde 2 katı cezanın eksik hesaplanması. (Önlem: Gecikme Algoritması Birim Testi)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Risk 3 (Orta Kritik): Mükerrer Kiralama - Öğrencinin teslim etmediği kitabı ikinci kez alması. (Önlem: Entegrasyon &amp; Kural Kontrolü)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Risk 4 (Yüksek Kritik): Kiradaki Kitabın Silinmesi - Öğrencide olan kitabın silinerek verinin bozulması. (Önlem: İlişkisel Bütünlük Koruması)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Risk 5 (Yüksek Güvenlik): XSS Zaafiyeti - Form alanlarına kötü amaçlı script girilmesi. (Önlem: htmlKacir Sanitization Testi)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İTÜ BİDB REFERANSLI YAZILIM TEST SÜREÇLERİ</a:t>
            </a:r>
          </a:p>
          <a:p>
            <a:pPr>
              <a:defRPr sz="2600" b="1">
                <a:solidFill>
                  <a:srgbClr val="1F3D63"/>
                </a:solidFill>
              </a:defRPr>
            </a:pPr>
            <a:r>
              <a:t>Dinamik Test: Birim Testleri (Unit Testing)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F3D63"/>
                </a:solidFill>
              </a:defRPr>
            </a:pPr>
            <a:r>
              <a:t>Hesaplama &amp; Format Birim Testleri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UT-01: paraFormatla(12.5) ➔ '12,50 ₺' kuruş formatı doğrulandı. [GEÇTİ]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UT-02: paraFormatla('hata') ➔ '0,00 ₺' NaN koruması doğrulandı. [GEÇTİ]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UT-03: tarihFormatla('2026-10-15') ➔ '15.10.2026' biçimi doğrulandı. [GEÇTİ]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UT-04: gunEkleStr('2026-10-10', 7) ➔ '2026-10-17' tarih ekleme. [GEÇTİ]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UT-05: gunFarkiHesapla() ➔ 14 günlük periyot tam hesaplandı. [GEÇTİ]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F3D63"/>
                </a:solidFill>
              </a:defRPr>
            </a:pPr>
            <a:r>
              <a:t>İş Mantığı &amp; Güvenlik Birim Testleri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UT-06: musaitAdetHesapla(1) ➔ Toplam Stok - Aktif Kira formülü teyit edildi. [GEÇTİ]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UT-07: musaitAdetHesapla(2) ➔ Kiradaki kopyalar stoktan düşüldü. [GEÇTİ]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UT-08: Gecikme Cezası Kuralı ➔ 3 gün gecikme x 2.50 TL x 2 katı = 15.00 ₺ ceza tam hesaplandı. [GEÇTİ]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UT-09: XSS Kaçırma ➔ &lt;script&gt; etiketleri etkisiz kılındı. [GEÇTİ]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UT-10: kitapEkle Doğrulama ➔ Boş ad ve negatif stok reddedildi. [GEÇTİ]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İTÜ BİDB REFERANSLI YAZILIM TEST SÜREÇLERİ</a:t>
            </a:r>
          </a:p>
          <a:p>
            <a:pPr>
              <a:defRPr sz="2600" b="1">
                <a:solidFill>
                  <a:srgbClr val="1F3D63"/>
                </a:solidFill>
              </a:defRPr>
            </a:pPr>
            <a:r>
              <a:t>Dinamik Test: Tümleyim Testleri (Integration)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F3D63"/>
                </a:solidFill>
              </a:defRPr>
            </a:pPr>
            <a:r>
              <a:t>Kiralama &amp; Stok Senkronizasyonu (IT-01)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Öğrenci 14 günlük kitap kiraladığında;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1. Kiralama işlemi başarıyla sisteme yazılır.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2. Katalogdaki müsait stok anında 1 adet düşer.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3. Öğrencinin 'Kiralarım' tablosuna yeni satır eklenir.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Sonuç: Arayüz ve işlem motoru %100 senkron çalışmaktadır.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F3D63"/>
                </a:solidFill>
              </a:defRPr>
            </a:pPr>
            <a:r>
              <a:t>Kalıcı Depolama &amp; İade Döngüsü (IT-02 &amp; IT-03)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Depolama &amp; Teslimat Döngüsü;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1. Veriler tarayıcı localStorage alanına anında yansıtılır.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2. Yönetici 'Teslim Al' dediğinde gecikme cezası tahsil edilir.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3. Teslim edilen kitabın müsait stoğu otomatik olarak yeniden serbest kalır.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Sonuç: Veri bütünlüğü ve iade döngüsü eksiksiz doğrulanmıştır.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İTÜ BİDB REFERANSLI YAZILIM TEST SÜREÇLERİ</a:t>
            </a:r>
          </a:p>
          <a:p>
            <a:pPr>
              <a:defRPr sz="2600" b="1">
                <a:solidFill>
                  <a:srgbClr val="1F3D63"/>
                </a:solidFill>
              </a:defRPr>
            </a:pPr>
            <a:r>
              <a:t>Dinamik Test: Regresyon Testleri (Regression)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F3D63"/>
                </a:solidFill>
              </a:defRPr>
            </a:pPr>
            <a:r>
              <a:t>Mükerrer Kiralama Regresyonu (RT-01)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Öğrenci elinde henüz teslim etmediği bir kitap varken;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Aynı kitabı ikinci kez kiralayamaz.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Sistem 'Zaten ödünç aldınız' uyarısı verir.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Regresyon Kriteri: Sisteme yeni özellik eklense dahi bu temel iş kuralının asla bozulmadığı doğrulanmıştır.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F3D63"/>
                </a:solidFill>
              </a:defRPr>
            </a:pPr>
            <a:r>
              <a:t>İade Sonrası Yeniden Kiralama &amp; Silme (RT-02 &amp; RT-03)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İade ve Silme Güvenliği Regresyonu;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Kitap teslim edildikten sonra kilit kalkar ve aynı öğrenci kitabı tekrar kiralayabilir.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Öğrencide kirada olan kitap sistemden silinmek istendiğinde güvenlik kilidi devreye girer ve silmeyi engeller.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Sonuç: Veri güvenliği ve kurallar tam koruma altındadır.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İTÜ BİDB REFERANSLI YAZILIM TEST SÜREÇLERİ</a:t>
            </a:r>
          </a:p>
          <a:p>
            <a:pPr>
              <a:defRPr sz="2600" b="1">
                <a:solidFill>
                  <a:srgbClr val="1F3D63"/>
                </a:solidFill>
              </a:defRPr>
            </a:pPr>
            <a:r>
              <a:t>Zorlanım ve Performans Testi (Stress Testing)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F3D63"/>
                </a:solidFill>
              </a:defRPr>
            </a:pPr>
            <a:r>
              <a:t>Yük Seviyesi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Test Senaryosu: Belleğe 1.000 adet yapay kitap kaydı dinamik olarak yüklendi.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Kayıtlar: Kitap adı, yazar, kategori, stok ve günlük ücret alanlarını içerir.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Durum: Bellek şişmesi veya çökme yaşanmadı.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92024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F3D63"/>
                </a:solidFill>
              </a:defRPr>
            </a:pPr>
            <a:r>
              <a:t>Tepki Süresi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Hedef Kriter: 50 ms altında arama/filtreleme tamamlanmalıdır.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Ölçülen Süre: Ortalama 3.8 milisaniye!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Başarı: Hedeflenen eşik değerin 10 katından daha hızlı yanıt alındı.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92024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F3D63"/>
                </a:solidFill>
              </a:defRPr>
            </a:pPr>
            <a:r>
              <a:t>Bellek &amp; Dayanıklılık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CPU ve bellek tüketimi kararlı seyretti.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DOM güncellemesi donma olmadan gerçekleşti.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Zorlu koşullar altında sistem işlevselliğini %100 korudu.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İTÜ BİDB REFERANSLI YAZILIM TEST SÜREÇLERİ</a:t>
            </a:r>
          </a:p>
          <a:p>
            <a:pPr>
              <a:defRPr sz="2600" b="1">
                <a:solidFill>
                  <a:srgbClr val="1F3D63"/>
                </a:solidFill>
              </a:defRPr>
            </a:pPr>
            <a:r>
              <a:t>Kullanıcı Kabul Testi (UAT) ve İş Akışları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F3D63"/>
                </a:solidFill>
              </a:defRPr>
            </a:pPr>
            <a:r>
              <a:t>Öğrenci Rolü Kabul Senaryoları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Okul No (1001) ve şifre ile sisteme sorunsuz giriş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Katalogda anlık arama ve kategoriye göre filtreleme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7, 14 ve 30 günlük kiralama sürelerinden birini seçebilme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'Kiralarım' sayfasında son teslim tarihini ve kalan günü takip edebilme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Sonuç: Öğrenci iş akışı beklentileri tam karşılamıştır.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F3D63"/>
                </a:solidFill>
              </a:defRPr>
            </a:pPr>
            <a:r>
              <a:t>Yönetici (Kütüphaneci) Kabul Senaryoları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Yönetici hesabı (admin) ile yönetim paneline tam erişim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Yeni kitap ekleme ve stok miktarını güncelleme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Tüm kiralamaları tek ekranda görme ve gecikenleri tespit etme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'Teslim Al' butonuyla cezalı/normal iade işlemlerini sonlandırma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Sonuç: Yönetim modülü kabul kriterlerini eksiksiz sağlamıştır.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İTÜ BİDB REFERANSLI YAZILIM TEST SÜREÇLERİ</a:t>
            </a:r>
          </a:p>
          <a:p>
            <a:pPr>
              <a:defRPr sz="2600" b="1">
                <a:solidFill>
                  <a:srgbClr val="1F3D63"/>
                </a:solidFill>
              </a:defRPr>
            </a:pPr>
            <a:r>
              <a:t>Beyaz Kutu &amp; Kara Kutu Test Teknikleri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F3D63"/>
                </a:solidFill>
              </a:defRPr>
            </a:pPr>
            <a:r>
              <a:t>Kara Kutu: Sınır Değer Analizi (BVA)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Kodun içine bakılmaksızın girdi sınırları test edilmiştir: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Şifre Sınırı: Minimum 4 karakter kuralı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3 karakter şifre girildiğinde ➔ Sistem reddetti. [GEÇTİ]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4 karakter (sınır) girildiğinde ➔ Sistem kabul etti. [GEÇTİ]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Stok Sınırı: Stok 0 iken buton kilitlendi ve kiralama engellendi. [GEÇTİ]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F3D63"/>
                </a:solidFill>
              </a:defRPr>
            </a:pPr>
            <a:r>
              <a:t>Beyaz Kutu: Dal Kapsama (Branch Coverage)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Kodun akış mantığındaki tüm koşul dalları test edilmiştir: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gunFarkiHesapla fonksiyonu karar dalları;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gunFarki &gt; 0 ➔ 'Kalan gün' dalı yürütüldü.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gunFarki == 0 ➔ 'Son gün' dalı yürütüldü.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• gunFarki &lt; 0 ➔ 'Gecikme cezası hesabı' dalı yürütüldü.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Tüm kontrol dalları (branches) %100 kapsandı.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İTÜ BİDB REFERANSLI YAZILIM TEST SÜREÇLERİ</a:t>
            </a:r>
          </a:p>
          <a:p>
            <a:pPr>
              <a:defRPr sz="2600" b="1">
                <a:solidFill>
                  <a:srgbClr val="1F3D63"/>
                </a:solidFill>
              </a:defRPr>
            </a:pPr>
            <a:r>
              <a:t>Test Sonlandırma Kararı ve Kalite Değerlendirmesi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1498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F3D63"/>
                </a:solidFill>
              </a:defRPr>
            </a:pPr>
            <a:r>
              <a:t>Nihai Test Çıkış Kriterleri ve Başarı Tablosu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Toplam Koşulan Test Sayısı: 20+ Otomatik Test Senaryosu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Kritik Hata (Blocker / Critical Bug): 0 Hata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Test Başarı Oranı (Pass Rate): %100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Performans Ölçümü: 1.000 veri altında 3.8 ms yanıt süresi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İTÜ BİDB Çıkış Kriteri Kararı: Sistemin tüm gereksinimleri karşıladığı, kararlı ve kabul edilebilir düzeyde hatasız olduğu onaylanarak test süreci başarıyla sonlandırılmıştır.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Canlı Uygulama: Web sitemizdeki 'Test Laboratuvarı' sekmesinden tüm testler anlık olarak izlenebilmektedir.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